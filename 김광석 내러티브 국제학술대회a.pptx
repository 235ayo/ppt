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448" r:id="rId4"/>
    <p:sldId id="306" r:id="rId5"/>
    <p:sldId id="484" r:id="rId6"/>
    <p:sldId id="303" r:id="rId7"/>
    <p:sldId id="451" r:id="rId8"/>
    <p:sldId id="447" r:id="rId9"/>
    <p:sldId id="305" r:id="rId10"/>
    <p:sldId id="457" r:id="rId11"/>
    <p:sldId id="470" r:id="rId12"/>
    <p:sldId id="439" r:id="rId13"/>
    <p:sldId id="456" r:id="rId14"/>
    <p:sldId id="307" r:id="rId15"/>
    <p:sldId id="308" r:id="rId16"/>
    <p:sldId id="423" r:id="rId17"/>
    <p:sldId id="476" r:id="rId18"/>
    <p:sldId id="477" r:id="rId19"/>
    <p:sldId id="312" r:id="rId20"/>
    <p:sldId id="357" r:id="rId21"/>
  </p:sldIdLst>
  <p:sldSz cx="9144000" cy="5143500" type="screen16x9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94"/>
  </p:normalViewPr>
  <p:slideViewPr>
    <p:cSldViewPr snapToGrid="0" snapToObjects="1">
      <p:cViewPr varScale="1">
        <p:scale>
          <a:sx n="194" d="100"/>
          <a:sy n="194" d="100"/>
        </p:scale>
        <p:origin x="774" y="15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210 M고딕OTF 050" panose="02020503020101020101" pitchFamily="18" charset="-127"/>
                <a:ea typeface="210 M고딕OTF 050" panose="020205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210 M고딕OTF 050" panose="02020503020101020101" pitchFamily="18" charset="-127"/>
                <a:ea typeface="210 M고딕OTF 050" panose="02020503020101020101" pitchFamily="18" charset="-127"/>
              </a:defRPr>
            </a:lvl1pPr>
          </a:lstStyle>
          <a:p>
            <a:fld id="{E3954DE4-D236-4C1E-BD7E-8983E8CB04CF}" type="datetime1">
              <a:rPr lang="ko-KR" altLang="en-US" smtClean="0"/>
              <a:pPr/>
              <a:t>2026-07-09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210 M고딕OTF 050" panose="02020503020101020101" pitchFamily="18" charset="-127"/>
                <a:ea typeface="210 M고딕OTF 050" panose="020205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210 M고딕OTF 050" panose="02020503020101020101" pitchFamily="18" charset="-127"/>
                <a:ea typeface="210 M고딕OTF 050" panose="02020503020101020101" pitchFamily="18" charset="-127"/>
              </a:defRPr>
            </a:lvl1pPr>
          </a:lstStyle>
          <a:p>
            <a:fld id="{578C6D8A-02F2-4E19-829A-DD4602157EE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5065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210 M고딕OTF 050" panose="02020503020101020101" pitchFamily="18" charset="-127"/>
        <a:ea typeface="210 M고딕OTF 050" panose="02020503020101020101" pitchFamily="18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A51E73-3DB8-EE46-912D-058EA569CE18}"/>
              </a:ext>
            </a:extLst>
          </p:cNvPr>
          <p:cNvSpPr txBox="1"/>
          <p:nvPr/>
        </p:nvSpPr>
        <p:spPr>
          <a:xfrm>
            <a:off x="1180766" y="2356306"/>
            <a:ext cx="6782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spc="-15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시대의 얼굴이 새겨지는 김광석의 </a:t>
            </a:r>
            <a:r>
              <a:rPr lang="ko-KR" altLang="en-US" sz="2200" spc="-15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내러티브</a:t>
            </a:r>
            <a:endParaRPr lang="en-US" altLang="ko-KR" sz="2200" spc="-15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DB83A-25D3-2940-B249-416A3909B1D5}"/>
              </a:ext>
            </a:extLst>
          </p:cNvPr>
          <p:cNvSpPr txBox="1"/>
          <p:nvPr/>
        </p:nvSpPr>
        <p:spPr>
          <a:xfrm>
            <a:off x="4246588" y="3842388"/>
            <a:ext cx="659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김소희</a:t>
            </a:r>
            <a:r>
              <a:rPr kumimoji="1" lang="en-US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endParaRPr kumimoji="1" lang="ko-Kore-KR" altLang="en-US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83820"/>
            <a:ext cx="6431280" cy="4831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DB51697-602A-4345-44D1-19DDDCB7AABC}"/>
              </a:ext>
            </a:extLst>
          </p:cNvPr>
          <p:cNvSpPr/>
          <p:nvPr/>
        </p:nvSpPr>
        <p:spPr>
          <a:xfrm>
            <a:off x="882655" y="2062668"/>
            <a:ext cx="4851395" cy="1018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낭만이</a:t>
            </a:r>
            <a:r>
              <a:rPr lang="en-US" altLang="ko-KR" sz="2000" kern="0" spc="3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 </a:t>
            </a: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소멸된</a:t>
            </a:r>
            <a:r>
              <a:rPr lang="en-US" altLang="ko-KR" sz="2000" kern="0" spc="3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 </a:t>
            </a: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사회</a:t>
            </a:r>
            <a:r>
              <a:rPr lang="en-US" altLang="ko-KR" sz="2000" kern="0" spc="3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, 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오늘날의</a:t>
            </a:r>
            <a:r>
              <a:rPr lang="en-US" altLang="ko-KR" sz="2000" kern="0" spc="3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 </a:t>
            </a: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낭만은</a:t>
            </a:r>
            <a:r>
              <a:rPr lang="en-US" altLang="ko-KR" sz="2000" kern="0" spc="3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 </a:t>
            </a: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소멸해가고</a:t>
            </a:r>
            <a:r>
              <a:rPr lang="en-US" altLang="ko-KR" sz="2000" kern="0" spc="3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 </a:t>
            </a:r>
            <a:r>
              <a:rPr lang="en-US" altLang="ko-KR" sz="2000" kern="0" spc="3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있다</a:t>
            </a:r>
            <a:endParaRPr lang="en-US" altLang="ko-KR" sz="2000" kern="0" spc="300" dirty="0"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조선일보명조" panose="02030304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25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"/>
            <a:ext cx="9144000" cy="501396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87F7F60-9BCF-2869-D71B-1F2268406922}"/>
              </a:ext>
            </a:extLst>
          </p:cNvPr>
          <p:cNvSpPr/>
          <p:nvPr/>
        </p:nvSpPr>
        <p:spPr>
          <a:xfrm>
            <a:off x="5349240" y="3827780"/>
            <a:ext cx="3655060" cy="105664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210 M고딕OTF 050" panose="020205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E10C4E-C967-66B2-1CA7-22F1A57F1C41}"/>
              </a:ext>
            </a:extLst>
          </p:cNvPr>
          <p:cNvSpPr/>
          <p:nvPr/>
        </p:nvSpPr>
        <p:spPr>
          <a:xfrm>
            <a:off x="3987951" y="4373880"/>
            <a:ext cx="3596640" cy="5791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210 M고딕OTF 050" panose="02020503020101020101" pitchFamily="18" charset="-127"/>
            </a:endParaRPr>
          </a:p>
        </p:txBody>
      </p:sp>
      <p:sp>
        <p:nvSpPr>
          <p:cNvPr id="2" name="TextBox 92"/>
          <p:cNvSpPr txBox="1"/>
          <p:nvPr/>
        </p:nvSpPr>
        <p:spPr>
          <a:xfrm>
            <a:off x="3151274" y="3547433"/>
            <a:ext cx="5544669" cy="28549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56914" algn="r">
              <a:lnSpc>
                <a:spcPct val="150000"/>
              </a:lnSpc>
            </a:pPr>
            <a:r>
              <a:rPr lang="ko-KR" altLang="en-US" spc="-109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차가운 이 도시에 낭만과 사랑은 가능한가</a:t>
            </a:r>
            <a:r>
              <a:rPr lang="en-US" altLang="ko-KR" spc="-109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?</a:t>
            </a:r>
          </a:p>
          <a:p>
            <a:pPr marL="0" indent="3756914" algn="r">
              <a:lnSpc>
                <a:spcPct val="150000"/>
              </a:lnSpc>
            </a:pPr>
            <a:endParaRPr lang="en-US" altLang="ko-KR" spc="-109" dirty="0">
              <a:solidFill>
                <a:srgbClr val="3F3F3F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marL="0" indent="3756914" algn="r">
              <a:lnSpc>
                <a:spcPct val="150000"/>
              </a:lnSpc>
            </a:pPr>
            <a:r>
              <a:rPr lang="zh-CN" altLang="en-US" spc="-109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김</a:t>
            </a:r>
            <a:r>
              <a:rPr lang="zh-CN" altLang="en-US" spc="-104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광석</a:t>
            </a:r>
            <a:r>
              <a:rPr lang="zh-CN" altLang="en-US" spc="-104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은</a:t>
            </a:r>
          </a:p>
          <a:p>
            <a:pPr marL="0" indent="1283970" algn="r">
              <a:lnSpc>
                <a:spcPct val="150000"/>
              </a:lnSpc>
            </a:pPr>
            <a:r>
              <a:rPr lang="zh-CN" altLang="en-US" spc="-7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낭만이</a:t>
            </a:r>
            <a:r>
              <a:rPr lang="zh-CN" altLang="en-US" spc="-2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Arial Unicode MS"/>
              </a:rPr>
              <a:t> </a:t>
            </a:r>
            <a:r>
              <a:rPr lang="zh-CN" altLang="en-US" spc="-7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소멸되는</a:t>
            </a:r>
            <a:r>
              <a:rPr lang="zh-CN" altLang="en-US" spc="-2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Arial Unicode MS"/>
              </a:rPr>
              <a:t> </a:t>
            </a:r>
            <a:r>
              <a:rPr lang="zh-CN" altLang="en-US" spc="-8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</a:t>
            </a:r>
            <a:r>
              <a:rPr lang="zh-CN" altLang="en-US" spc="-3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Arial Unicode MS"/>
              </a:rPr>
              <a:t> </a:t>
            </a:r>
            <a:r>
              <a:rPr lang="zh-CN" altLang="en-US" spc="-7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시대야말로</a:t>
            </a:r>
            <a:endParaRPr lang="en-US" altLang="zh-CN" spc="-75" dirty="0">
              <a:solidFill>
                <a:srgbClr val="3F3F3F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indent="1283970" algn="r">
              <a:lnSpc>
                <a:spcPct val="150000"/>
              </a:lnSpc>
            </a:pPr>
            <a:r>
              <a:rPr lang="ko-KR" altLang="en-US" spc="-8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사랑의 </a:t>
            </a:r>
            <a:r>
              <a:rPr lang="zh-CN" altLang="en-US" spc="-8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기억을</a:t>
            </a:r>
            <a:r>
              <a:rPr lang="zh-CN" altLang="en-US" spc="-20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Arial Unicode MS"/>
              </a:rPr>
              <a:t> </a:t>
            </a:r>
            <a:r>
              <a:rPr lang="zh-CN" altLang="en-US" spc="-7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환기하</a:t>
            </a:r>
            <a:r>
              <a:rPr lang="ko-KR" altLang="en-US" spc="-7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그리움으로 </a:t>
            </a:r>
            <a:endParaRPr lang="en-US" altLang="ko-KR" spc="-75" dirty="0">
              <a:solidFill>
                <a:srgbClr val="3F3F3F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indent="1283970" algn="r">
              <a:lnSpc>
                <a:spcPct val="150000"/>
              </a:lnSpc>
            </a:pPr>
            <a:r>
              <a:rPr lang="ko-KR" altLang="en-US" spc="-7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사랑이 가능하다고 말한다</a:t>
            </a:r>
            <a:endParaRPr lang="zh-CN" altLang="en-US" spc="-75" dirty="0">
              <a:solidFill>
                <a:srgbClr val="3F3F3F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9423B-CF0B-4DCB-B155-C1F6138E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ea typeface="210 M고딕OTF 050" panose="020205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E97BE-F82C-4629-AC01-09FBB70E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 err="1">
                <a:ea typeface="210 M고딕OTF 050" panose="02020503020101020101" pitchFamily="18" charset="-127"/>
              </a:rPr>
              <a:t>테크놀러지</a:t>
            </a:r>
            <a:r>
              <a:rPr lang="ko-KR" altLang="en-US" dirty="0">
                <a:ea typeface="210 M고딕OTF 050" panose="02020503020101020101" pitchFamily="18" charset="-127"/>
              </a:rPr>
              <a:t> 기술매체의 초가속화 분위기는 우리에게 느림과 온화한 분위기에서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서로의 존재를 관조하며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낭만과 사랑의 시선으로 바라보는 관계를 급격히 상실하고 있다</a:t>
            </a:r>
          </a:p>
        </p:txBody>
      </p:sp>
    </p:spTree>
    <p:extLst>
      <p:ext uri="{BB962C8B-B14F-4D97-AF65-F5344CB8AC3E}">
        <p14:creationId xmlns:p14="http://schemas.microsoft.com/office/powerpoint/2010/main" val="26310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83589"/>
            <a:ext cx="7858760" cy="3353071"/>
          </a:xfrm>
          <a:prstGeom prst="rect">
            <a:avLst/>
          </a:prstGeom>
        </p:spPr>
      </p:pic>
      <p:sp>
        <p:nvSpPr>
          <p:cNvPr id="2" name="TextBox 87"/>
          <p:cNvSpPr txBox="1"/>
          <p:nvPr/>
        </p:nvSpPr>
        <p:spPr>
          <a:xfrm>
            <a:off x="1202305" y="4043075"/>
            <a:ext cx="6739390" cy="1429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50000"/>
              </a:lnSpc>
            </a:pP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 가속도의</a:t>
            </a:r>
            <a:r>
              <a:rPr lang="zh-CN" altLang="en-US" sz="16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속도로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휩쓸리는</a:t>
            </a:r>
            <a:r>
              <a:rPr lang="zh-CN" altLang="en-US" sz="16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사회에서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endParaRPr lang="en-US" altLang="zh-CN" sz="1600" spc="-25" dirty="0">
              <a:solidFill>
                <a:srgbClr val="3F3F3F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  <a:cs typeface="Arial Unicode MS"/>
            </a:endParaRPr>
          </a:p>
          <a:p>
            <a:pPr marL="0">
              <a:lnSpc>
                <a:spcPct val="150000"/>
              </a:lnSpc>
            </a:pPr>
            <a:r>
              <a:rPr lang="ko-KR" altLang="en-US" sz="1600" spc="-8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우리의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과거의</a:t>
            </a:r>
            <a:r>
              <a:rPr lang="zh-CN" altLang="en-US" sz="16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기억과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회상은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endParaRPr lang="en-US" altLang="zh-CN" sz="1600" spc="-25" dirty="0">
              <a:solidFill>
                <a:srgbClr val="3F3F3F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  <a:cs typeface="Arial Unicode MS"/>
            </a:endParaRPr>
          </a:p>
          <a:p>
            <a:pPr marL="0">
              <a:lnSpc>
                <a:spcPct val="150000"/>
              </a:lnSpc>
            </a:pP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현재와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미래의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삶으로</a:t>
            </a:r>
            <a:r>
              <a:rPr lang="zh-CN" altLang="en-US" sz="16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관조하거나</a:t>
            </a:r>
            <a:r>
              <a:rPr lang="zh-CN" altLang="en-US" sz="16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9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환기되지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않은</a:t>
            </a:r>
            <a:r>
              <a:rPr lang="zh-CN" altLang="en-US" sz="16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상태에서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endParaRPr lang="en-US" altLang="zh-CN" sz="1600" spc="-25" dirty="0">
              <a:solidFill>
                <a:srgbClr val="3F3F3F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  <a:cs typeface="Arial Unicode MS"/>
            </a:endParaRPr>
          </a:p>
          <a:p>
            <a:pPr marL="0">
              <a:lnSpc>
                <a:spcPct val="150000"/>
              </a:lnSpc>
            </a:pPr>
            <a:r>
              <a:rPr lang="zh-CN" altLang="en-US" sz="16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휘발화되며</a:t>
            </a:r>
            <a:r>
              <a:rPr lang="zh-CN" altLang="en-US" sz="1600" spc="-2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1600" spc="-9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공허해진다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3890D-31C5-8684-D515-994958EB2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058"/>
            <a:ext cx="8229600" cy="2567782"/>
          </a:xfrm>
        </p:spPr>
        <p:txBody>
          <a:bodyPr>
            <a:normAutofit/>
          </a:bodyPr>
          <a:lstStyle/>
          <a:p>
            <a:pPr marL="0" indent="0" algn="ctr" fontAlgn="base">
              <a:lnSpc>
                <a:spcPct val="160000"/>
              </a:lnSpc>
              <a:buNone/>
            </a:pPr>
            <a:r>
              <a:rPr lang="ko-KR" altLang="en-US" sz="1800" kern="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  <a:t>사회 전체적으로 낭만이 거의 남아있지 않다고 해도 과언이 아니다</a:t>
            </a:r>
          </a:p>
          <a:p>
            <a:pPr marL="0" indent="0" algn="ctr" fontAlgn="base">
              <a:lnSpc>
                <a:spcPct val="160000"/>
              </a:lnSpc>
              <a:buNone/>
            </a:pPr>
            <a:r>
              <a:rPr lang="ko-KR" altLang="en-US" sz="1800" kern="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  <a:t>낭만이 없으면 인생은 비참한 것이 되고 만다</a:t>
            </a:r>
          </a:p>
          <a:p>
            <a:pPr marL="0" indent="0" algn="ctr" fontAlgn="base">
              <a:lnSpc>
                <a:spcPct val="160000"/>
              </a:lnSpc>
              <a:buNone/>
            </a:pPr>
            <a:r>
              <a:rPr lang="ko-KR" altLang="en-US" sz="1800" kern="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  <a:t>심지어 물질적으로 풍요로워도 그렇다</a:t>
            </a:r>
            <a:endParaRPr lang="en-US" altLang="ko-KR" sz="1800" kern="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조선일보명조" panose="02030304000000000000" pitchFamily="18" charset="-127"/>
            </a:endParaRPr>
          </a:p>
          <a:p>
            <a:pPr algn="ctr" fontAlgn="base">
              <a:lnSpc>
                <a:spcPct val="160000"/>
              </a:lnSpc>
            </a:pPr>
            <a:endParaRPr lang="ko-KR" altLang="en-US" sz="1000" kern="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조선일보명조" panose="02030304000000000000" pitchFamily="18" charset="-127"/>
            </a:endParaRPr>
          </a:p>
          <a:p>
            <a:pPr marL="0" indent="0" algn="ctr" fontAlgn="base">
              <a:lnSpc>
                <a:spcPct val="160000"/>
              </a:lnSpc>
              <a:buNone/>
            </a:pPr>
            <a:r>
              <a:rPr lang="ko-KR" altLang="en-US" sz="1800" b="1" kern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조선일보명조" panose="02030304000000000000" pitchFamily="18" charset="-127"/>
              </a:rPr>
              <a:t>낭만을 느끼지 못하는 사람이 늘어난다는 것은 바로 위험한 사회의 징후이다</a:t>
            </a:r>
            <a:endParaRPr lang="ko-KR" altLang="en-US" sz="1800" kern="0" dirty="0"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조선일보명조" panose="02030304000000000000" pitchFamily="18" charset="-127"/>
            </a:endParaRPr>
          </a:p>
          <a:p>
            <a:endParaRPr lang="ko-KR" altLang="en-US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783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FC22455F-4FFD-4D31-AC53-9B6150119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84409"/>
            <a:ext cx="4059935" cy="470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6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434340"/>
            <a:ext cx="5044440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4D1776A-7B7D-270E-65F4-043EE610F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114" y="450941"/>
            <a:ext cx="6265772" cy="319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25F540-E1B8-B1F4-99F9-79B626C4F4DF}"/>
              </a:ext>
            </a:extLst>
          </p:cNvPr>
          <p:cNvSpPr txBox="1"/>
          <p:nvPr/>
        </p:nvSpPr>
        <p:spPr>
          <a:xfrm>
            <a:off x="1142999" y="3858488"/>
            <a:ext cx="6858000" cy="91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삶의 위기에 내몰리는 우리는 함께하는 비극의 공유로서 </a:t>
            </a:r>
            <a:r>
              <a:rPr lang="ko-KR" altLang="en-US" kern="0" dirty="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운명공동체</a:t>
            </a:r>
            <a:r>
              <a:rPr lang="ko-KR" altLang="en-US" kern="0" dirty="0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로서 사회의 온화한 </a:t>
            </a:r>
            <a:r>
              <a:rPr lang="ko-KR" altLang="en-US" b="1" kern="0" dirty="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보호막의 둥지</a:t>
            </a:r>
            <a:r>
              <a:rPr lang="ko-KR" altLang="en-US" kern="0" dirty="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</a:t>
            </a:r>
            <a:r>
              <a:rPr lang="ko-KR" altLang="en-US" kern="0" dirty="0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필요로 한다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935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B110-B76B-404F-8957-80FF4797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ea typeface="210 M고딕OTF 050" panose="020205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167808-6FD6-477A-926D-65CF1C18B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ea typeface="210 M고딕OTF 050" panose="02020503020101020101" pitchFamily="18" charset="-127"/>
            </a:endParaRPr>
          </a:p>
          <a:p>
            <a:r>
              <a:rPr lang="ko-KR" altLang="en-US" dirty="0">
                <a:ea typeface="210 M고딕OTF 050" panose="02020503020101020101" pitchFamily="18" charset="-127"/>
              </a:rPr>
              <a:t>정감이 사라지는 파편화되는 도시에서 </a:t>
            </a:r>
            <a:r>
              <a:rPr lang="en-US" altLang="ko-KR" dirty="0">
                <a:ea typeface="210 M고딕OTF 050" panose="02020503020101020101" pitchFamily="18" charset="-127"/>
              </a:rPr>
              <a:t>  </a:t>
            </a:r>
            <a:r>
              <a:rPr lang="ko-KR" altLang="en-US" dirty="0">
                <a:ea typeface="210 M고딕OTF 050" panose="02020503020101020101" pitchFamily="18" charset="-127"/>
              </a:rPr>
              <a:t> 김광석 노래의 </a:t>
            </a:r>
            <a:r>
              <a:rPr lang="ko-KR" altLang="en-US" dirty="0" err="1">
                <a:ea typeface="210 M고딕OTF 050" panose="02020503020101020101" pitchFamily="18" charset="-127"/>
              </a:rPr>
              <a:t>내러티브는</a:t>
            </a:r>
            <a:r>
              <a:rPr lang="ko-KR" altLang="en-US" dirty="0">
                <a:ea typeface="210 M고딕OTF 050" panose="02020503020101020101" pitchFamily="18" charset="-127"/>
              </a:rPr>
              <a:t>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ea typeface="210 M고딕OTF 050" panose="02020503020101020101" pitchFamily="18" charset="-127"/>
              </a:rPr>
              <a:t>    </a:t>
            </a:r>
            <a:r>
              <a:rPr lang="ko-KR" altLang="en-US" dirty="0">
                <a:ea typeface="210 M고딕OTF 050" panose="02020503020101020101" pitchFamily="18" charset="-127"/>
              </a:rPr>
              <a:t>사랑의 기억을  환기하며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ea typeface="210 M고딕OTF 050" panose="02020503020101020101" pitchFamily="18" charset="-127"/>
              </a:rPr>
              <a:t>    </a:t>
            </a:r>
            <a:r>
              <a:rPr lang="ko-KR" altLang="en-US" dirty="0">
                <a:ea typeface="210 M고딕OTF 050" panose="02020503020101020101" pitchFamily="18" charset="-127"/>
              </a:rPr>
              <a:t>낭만과 사랑을 불어넣는 정감의 분위기로                         스며들며 온화한 분위기로 전환된다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ea typeface="210 M고딕OTF 050" panose="02020503020101020101" pitchFamily="18" charset="-127"/>
              </a:rPr>
              <a:t>  </a:t>
            </a:r>
            <a:r>
              <a:rPr lang="ko-KR" altLang="en-US" dirty="0">
                <a:ea typeface="210 M고딕OTF 050" panose="02020503020101020101" pitchFamily="18" charset="-127"/>
              </a:rPr>
              <a:t>                                     </a:t>
            </a:r>
            <a:endParaRPr lang="en-US" altLang="ko-KR" dirty="0">
              <a:ea typeface="210 M고딕OTF 050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10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7BA23-97D2-4FBE-B1D7-7E068DFFA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258" y="1408059"/>
            <a:ext cx="5692140" cy="2258569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김광석은 우리의 잃어버린 꿈과 사랑을 </a:t>
            </a:r>
            <a:endParaRPr lang="en-US" altLang="ko-KR" sz="18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그리움으로 환기하여 우리의 마음 깊이 </a:t>
            </a:r>
            <a:endParaRPr lang="en-US" altLang="ko-KR" sz="18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서로의 비극과 아픔에 대해 </a:t>
            </a:r>
            <a:r>
              <a:rPr lang="ko-KR" altLang="en-US" sz="18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공감력을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회복하게 한다</a:t>
            </a:r>
            <a:endParaRPr lang="en-US" altLang="ko-KR" sz="18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우리는 비정사회를 넘어서는 사회적 처방이 필요하다 </a:t>
            </a:r>
            <a:endParaRPr lang="en-US" altLang="ko-KR" sz="18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   </a:t>
            </a:r>
            <a:endParaRPr lang="en-US" altLang="ko-KR" sz="18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89103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사람, 테이블, 앉아있는, 건물이(가) 표시된 사진&#10;&#10;자동 생성된 설명">
            <a:extLst>
              <a:ext uri="{FF2B5EF4-FFF2-40B4-BE49-F238E27FC236}">
                <a16:creationId xmlns:a16="http://schemas.microsoft.com/office/drawing/2014/main" id="{00E82703-719C-0543-69E8-9E95094A51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2401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D3F6B4-84C2-8AA4-7E27-A52CF077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12" y="1885950"/>
            <a:ext cx="6048375" cy="1727994"/>
          </a:xfrm>
        </p:spPr>
        <p:txBody>
          <a:bodyPr>
            <a:norm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800" kern="0" dirty="0" err="1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  <a:t>벤야민에</a:t>
            </a:r>
            <a:r>
              <a:rPr lang="ko-KR" altLang="en-US" sz="1800" kern="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  <a:t> 의하면 유유자적은 단지 생산만을 위해 달려가는 </a:t>
            </a:r>
            <a:br>
              <a:rPr lang="en-US" altLang="ko-KR" sz="1800" kern="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</a:br>
            <a:r>
              <a:rPr lang="ko-KR" altLang="en-US" sz="1800" kern="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  <a:t>삶의 리듬에 대항하는 일종의 저항이다</a:t>
            </a:r>
            <a:br>
              <a:rPr lang="ko-KR" altLang="en-US" sz="1800" kern="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조선일보명조" panose="02030304000000000000" pitchFamily="18" charset="-127"/>
              </a:rPr>
            </a:br>
            <a:endParaRPr lang="ko-KR" altLang="en-US" sz="1800" dirty="0">
              <a:solidFill>
                <a:schemeClr val="bg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828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4"/>
          <p:cNvSpPr txBox="1"/>
          <p:nvPr/>
        </p:nvSpPr>
        <p:spPr>
          <a:xfrm>
            <a:off x="1403957" y="1842518"/>
            <a:ext cx="6336086" cy="1046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2400" spc="-1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황량하고</a:t>
            </a:r>
            <a:r>
              <a:rPr lang="zh-CN" altLang="en-US" sz="2400" spc="-2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2400" spc="-11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건조한</a:t>
            </a:r>
            <a:r>
              <a:rPr lang="zh-CN" altLang="en-US" sz="2400" spc="-3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2400" spc="-119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</a:t>
            </a:r>
            <a:r>
              <a:rPr lang="zh-CN" altLang="en-US" sz="2400" spc="-3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2400" spc="-1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도시에</a:t>
            </a:r>
            <a:endParaRPr lang="en-US" altLang="zh-CN" sz="2400" spc="-115" dirty="0">
              <a:solidFill>
                <a:srgbClr val="3F3F3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algn="ctr">
              <a:lnSpc>
                <a:spcPct val="150000"/>
              </a:lnSpc>
            </a:pPr>
            <a:r>
              <a:rPr lang="zh-CN" altLang="en-US" sz="24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바람불어</a:t>
            </a:r>
            <a:r>
              <a:rPr lang="zh-CN" altLang="en-US" sz="24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2400" spc="-85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오는</a:t>
            </a:r>
            <a:r>
              <a:rPr lang="zh-CN" altLang="en-US" sz="2400" spc="-2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2400" spc="-80" dirty="0">
                <a:solidFill>
                  <a:srgbClr val="3F3F3F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곳</a:t>
            </a:r>
            <a:r>
              <a:rPr lang="zh-CN" altLang="en-US" sz="2400" spc="-8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은</a:t>
            </a:r>
            <a:r>
              <a:rPr lang="zh-CN" altLang="en-US" sz="2400" spc="-2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2400" spc="-8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과연</a:t>
            </a:r>
            <a:r>
              <a:rPr lang="zh-CN" altLang="en-US" sz="2400" spc="-2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2400" spc="-8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어디인가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5"/>
          <p:cNvSpPr txBox="1"/>
          <p:nvPr/>
        </p:nvSpPr>
        <p:spPr>
          <a:xfrm>
            <a:off x="2437615" y="437864"/>
            <a:ext cx="4268769" cy="4267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2000" spc="-85" dirty="0">
                <a:solidFill>
                  <a:srgbClr val="24242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바람이</a:t>
            </a:r>
            <a:r>
              <a:rPr lang="zh-CN" altLang="en-US" sz="2000" spc="-20" dirty="0">
                <a:solidFill>
                  <a:srgbClr val="24242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2000" spc="-85" dirty="0">
                <a:solidFill>
                  <a:srgbClr val="24242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불어오는</a:t>
            </a:r>
            <a:r>
              <a:rPr lang="zh-CN" altLang="en-US" sz="2000" spc="-30" dirty="0">
                <a:solidFill>
                  <a:srgbClr val="24242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 Unicode MS"/>
              </a:rPr>
              <a:t> </a:t>
            </a:r>
            <a:r>
              <a:rPr lang="zh-CN" altLang="en-US" sz="2000" spc="-75" dirty="0">
                <a:solidFill>
                  <a:srgbClr val="24242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곳</a:t>
            </a:r>
            <a:endParaRPr lang="en-US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algn="ctr"/>
            <a:endParaRPr 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algn="ctr">
              <a:lnSpc>
                <a:spcPct val="150000"/>
              </a:lnSpc>
            </a:pP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바람이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불어오는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6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곳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그곳으로</a:t>
            </a:r>
            <a:r>
              <a:rPr lang="zh-CN" altLang="en-US" sz="1800" spc="-3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6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가네</a:t>
            </a:r>
          </a:p>
          <a:p>
            <a:pPr marL="0" algn="ctr">
              <a:lnSpc>
                <a:spcPct val="150000"/>
              </a:lnSpc>
            </a:pP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그대의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머릿결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같은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나무</a:t>
            </a:r>
            <a:r>
              <a:rPr lang="zh-CN" altLang="en-US" sz="1800" spc="-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아래로</a:t>
            </a:r>
          </a:p>
          <a:p>
            <a:pPr marL="0" algn="ctr" hangingPunct="0">
              <a:lnSpc>
                <a:spcPct val="150000"/>
              </a:lnSpc>
            </a:pP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덜컹이는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기차에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기대어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너에게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편지를</a:t>
            </a:r>
            <a:r>
              <a:rPr lang="zh-CN" altLang="en-US" sz="1800" spc="-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쓴다   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꿈에</a:t>
            </a:r>
            <a:r>
              <a:rPr lang="zh-CN" altLang="en-US" sz="1800" spc="-1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보았던</a:t>
            </a:r>
            <a:r>
              <a:rPr lang="zh-CN" altLang="en-US" sz="1800" spc="-1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길</a:t>
            </a:r>
            <a:r>
              <a:rPr lang="zh-CN" altLang="en-US" sz="1800" spc="-1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</a:t>
            </a:r>
            <a:r>
              <a:rPr lang="zh-CN" altLang="en-US" sz="1800" spc="-13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길</a:t>
            </a:r>
            <a:r>
              <a:rPr lang="zh-CN" altLang="en-US" sz="1800" spc="-1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위에</a:t>
            </a:r>
            <a:r>
              <a:rPr lang="zh-CN" altLang="en-US" sz="1800" spc="-1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서</a:t>
            </a:r>
            <a:r>
              <a:rPr lang="zh-CN" altLang="en-US" sz="1800" spc="-13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있네</a:t>
            </a: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algn="ctr" hangingPunct="0">
              <a:lnSpc>
                <a:spcPct val="150000"/>
              </a:lnSpc>
            </a:pPr>
            <a:r>
              <a:rPr lang="zh-CN" altLang="en-US" sz="1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설레임과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두려움으로</a:t>
            </a:r>
            <a:r>
              <a:rPr lang="zh-CN" altLang="en-US" sz="1800" spc="-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불안한</a:t>
            </a:r>
            <a:r>
              <a:rPr lang="zh-CN" altLang="en-US" sz="1800" spc="-3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행복이지만</a:t>
            </a:r>
            <a:b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우리가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느끼며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바라볼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하늘과</a:t>
            </a:r>
            <a:r>
              <a:rPr lang="zh-CN" altLang="en-US" sz="1800" spc="-3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사람들</a:t>
            </a:r>
          </a:p>
          <a:p>
            <a:pPr marL="0" algn="ctr" hangingPunct="0">
              <a:lnSpc>
                <a:spcPct val="150000"/>
              </a:lnSpc>
            </a:pP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힘겨운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날들도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있지만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새로운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꿈들을</a:t>
            </a:r>
            <a:r>
              <a:rPr lang="zh-CN" altLang="en-US" sz="1800" spc="-2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위해</a:t>
            </a:r>
            <a:b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zh-CN" altLang="en-US" sz="18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바람이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불어오는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6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곳</a:t>
            </a:r>
            <a:r>
              <a:rPr lang="zh-CN" altLang="en-US" sz="180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7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그곳으로</a:t>
            </a:r>
            <a:r>
              <a:rPr lang="zh-CN" altLang="en-US" sz="1800" spc="-3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spc="-65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A38FA-0C0A-40CE-A911-C94FF903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68" y="574409"/>
            <a:ext cx="4864100" cy="788988"/>
          </a:xfrm>
        </p:spPr>
        <p:txBody>
          <a:bodyPr>
            <a:normAutofit/>
          </a:bodyPr>
          <a:lstStyle/>
          <a:p>
            <a:r>
              <a:rPr lang="ko-KR" altLang="en-US" sz="24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노찾사</a:t>
            </a:r>
            <a:r>
              <a:rPr lang="ko-KR" altLang="en-US" sz="24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운동가수에서 대중가수 전환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3B5A9C-A28F-4563-B3AF-8B159081D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68" y="1758949"/>
            <a:ext cx="5833532" cy="226959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어느 군대가기 전 후배의 입양전야 송별모임에서 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선배가 후배의 연인을 빼앗은 거예요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송별식이 시작될 때 후배 연인이었는데 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모임이 끝나는 파장 무렵 어찌된 일인지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그녀는 선배의 연인이 되었던 거예요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0" indent="0">
              <a:lnSpc>
                <a:spcPct val="150000"/>
              </a:lnSpc>
              <a:buNone/>
              <a:tabLst>
                <a:tab pos="3228975" algn="l"/>
              </a:tabLst>
            </a:pP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그날 밤 그걸 보고 나니 세상에 느낀 게 많았어요 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175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15B6E-A9F6-4D99-AAD9-5D82C548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ea typeface="210 M고딕OTF 050" panose="020205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EF766-FCA8-4B1E-AAD7-B9FBC8620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ea typeface="210 M고딕OTF 050" panose="02020503020101020101" pitchFamily="18" charset="-127"/>
              </a:rPr>
              <a:t>김광석의 음악에서 커다란 전환점은 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입영전야에 후배 연인을 빼앗은 사건을 목격한 이후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김광석은 </a:t>
            </a:r>
            <a:r>
              <a:rPr lang="ko-KR" altLang="en-US" dirty="0" err="1">
                <a:ea typeface="210 M고딕OTF 050" panose="02020503020101020101" pitchFamily="18" charset="-127"/>
              </a:rPr>
              <a:t>노찾사</a:t>
            </a:r>
            <a:r>
              <a:rPr lang="ko-KR" altLang="en-US" dirty="0">
                <a:ea typeface="210 M고딕OTF 050" panose="02020503020101020101" pitchFamily="18" charset="-127"/>
              </a:rPr>
              <a:t> 솔아 </a:t>
            </a:r>
            <a:r>
              <a:rPr lang="ko-KR" altLang="en-US" dirty="0" err="1">
                <a:ea typeface="210 M고딕OTF 050" panose="02020503020101020101" pitchFamily="18" charset="-127"/>
              </a:rPr>
              <a:t>솔아</a:t>
            </a:r>
            <a:r>
              <a:rPr lang="ko-KR" altLang="en-US" dirty="0">
                <a:ea typeface="210 M고딕OTF 050" panose="02020503020101020101" pitchFamily="18" charset="-127"/>
              </a:rPr>
              <a:t> 푸르른 솔아 노래를 포기하고 동물원으로 전환하여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 err="1">
                <a:ea typeface="210 M고딕OTF 050" panose="02020503020101020101" pitchFamily="18" charset="-127"/>
              </a:rPr>
              <a:t>거리에서를</a:t>
            </a:r>
            <a:r>
              <a:rPr lang="ko-KR" altLang="en-US" dirty="0">
                <a:ea typeface="210 M고딕OTF 050" panose="02020503020101020101" pitchFamily="18" charset="-127"/>
              </a:rPr>
              <a:t> 불렀다</a:t>
            </a:r>
          </a:p>
        </p:txBody>
      </p:sp>
    </p:spTree>
    <p:extLst>
      <p:ext uri="{BB962C8B-B14F-4D97-AF65-F5344CB8AC3E}">
        <p14:creationId xmlns:p14="http://schemas.microsoft.com/office/powerpoint/2010/main" val="1941903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33676-6E70-4F51-A730-13E150E9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210 M고딕OTF 050" panose="02020503020101020101" pitchFamily="18" charset="-127"/>
              </a:rPr>
              <a:t>김광석 노래의 </a:t>
            </a:r>
            <a:r>
              <a:rPr lang="ko-KR" altLang="en-US" dirty="0" err="1">
                <a:ea typeface="210 M고딕OTF 050" panose="02020503020101020101" pitchFamily="18" charset="-127"/>
              </a:rPr>
              <a:t>내러티브</a:t>
            </a:r>
            <a:endParaRPr lang="ko-KR" altLang="en-US" dirty="0">
              <a:ea typeface="210 M고딕OTF 050" panose="020205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26CEE-CB30-4352-BA11-B001D97C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젊은 청춘이 예기치 않게 겪어내야만 하는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사랑과 이별</a:t>
            </a:r>
            <a:r>
              <a:rPr lang="en-US" altLang="ko-KR" dirty="0">
                <a:ea typeface="210 M고딕OTF 050" panose="02020503020101020101" pitchFamily="18" charset="-127"/>
              </a:rPr>
              <a:t>, </a:t>
            </a:r>
            <a:r>
              <a:rPr lang="ko-KR" altLang="en-US" dirty="0">
                <a:ea typeface="210 M고딕OTF 050" panose="02020503020101020101" pitchFamily="18" charset="-127"/>
              </a:rPr>
              <a:t>아픔과 그리움</a:t>
            </a:r>
            <a:r>
              <a:rPr lang="en-US" altLang="ko-KR" dirty="0">
                <a:ea typeface="210 M고딕OTF 050" panose="02020503020101020101" pitchFamily="18" charset="-127"/>
              </a:rPr>
              <a:t>, </a:t>
            </a:r>
            <a:r>
              <a:rPr lang="ko-KR" altLang="en-US" dirty="0" err="1">
                <a:ea typeface="210 M고딕OTF 050" panose="02020503020101020101" pitchFamily="18" charset="-127"/>
              </a:rPr>
              <a:t>잊혀짐과</a:t>
            </a:r>
            <a:r>
              <a:rPr lang="ko-KR" altLang="en-US" dirty="0">
                <a:ea typeface="210 M고딕OTF 050" panose="02020503020101020101" pitchFamily="18" charset="-127"/>
              </a:rPr>
              <a:t> 잊혀지지 않는 경계에 서는 방황의 껴안음이다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그는 상실하는 잃어버린 꿈과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젊은 날의 사랑했던 아름다운 기억을 </a:t>
            </a:r>
            <a:endParaRPr lang="en-US" altLang="ko-KR" dirty="0">
              <a:ea typeface="210 M고딕OTF 050" panose="020205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ea typeface="210 M고딕OTF 050" panose="02020503020101020101" pitchFamily="18" charset="-127"/>
              </a:rPr>
              <a:t>새롭게 환기하며 우리들을 살아있게 한다</a:t>
            </a:r>
          </a:p>
        </p:txBody>
      </p:sp>
    </p:spTree>
    <p:extLst>
      <p:ext uri="{BB962C8B-B14F-4D97-AF65-F5344CB8AC3E}">
        <p14:creationId xmlns:p14="http://schemas.microsoft.com/office/powerpoint/2010/main" val="867403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7151AA-0F5D-0CC8-88D5-58BD0BD6BEE6}"/>
              </a:ext>
            </a:extLst>
          </p:cNvPr>
          <p:cNvSpPr txBox="1"/>
          <p:nvPr/>
        </p:nvSpPr>
        <p:spPr>
          <a:xfrm>
            <a:off x="1562201" y="1166269"/>
            <a:ext cx="6019597" cy="2341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김광석의 노래는 우리에게 </a:t>
            </a:r>
            <a:endParaRPr lang="en-US" altLang="ko-KR" sz="2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과거의 헤어질 수밖에 없는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사랑과 방황</a:t>
            </a:r>
            <a:endParaRPr lang="en-US" altLang="ko-KR" sz="20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2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현재까지도 사랑의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아픔의 흔적을 감싸며</a:t>
            </a:r>
            <a:endParaRPr lang="en-US" altLang="ko-KR" sz="20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설레는 새로운 예감으로 기다리게 하는 분위기이다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0"/>
          <p:cNvSpPr txBox="1"/>
          <p:nvPr/>
        </p:nvSpPr>
        <p:spPr>
          <a:xfrm>
            <a:off x="2341880" y="1740753"/>
            <a:ext cx="4460240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800" b="1" spc="-5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김광석 </a:t>
            </a:r>
            <a:r>
              <a:rPr lang="ko-KR" altLang="en-US" sz="1800" b="1" spc="-5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음악의 </a:t>
            </a:r>
            <a:r>
              <a:rPr lang="ko-KR" altLang="en-US" sz="1800" b="1" spc="-55" dirty="0" err="1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내러티브는</a:t>
            </a:r>
            <a:r>
              <a:rPr lang="ko-KR" altLang="en-US" sz="1800" b="1" spc="-55" dirty="0">
                <a:solidFill>
                  <a:srgbClr val="3F3F3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endParaRPr lang="en-US" altLang="zh-CN" sz="1800" b="1" spc="-15" dirty="0">
              <a:solidFill>
                <a:srgbClr val="3F3F3F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Arial Unicode MS"/>
            </a:endParaRPr>
          </a:p>
          <a:p>
            <a:pPr marL="0" algn="ctr">
              <a:lnSpc>
                <a:spcPct val="100000"/>
              </a:lnSpc>
            </a:pPr>
            <a:endParaRPr lang="en-US" altLang="zh-CN" b="1" spc="-15" dirty="0">
              <a:solidFill>
                <a:srgbClr val="3F3F3F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marL="0" algn="ctr">
              <a:lnSpc>
                <a:spcPct val="100000"/>
              </a:lnSpc>
            </a:pPr>
            <a:r>
              <a:rPr lang="zh-CN" altLang="en-US" sz="1800" b="1" spc="-6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도시인에게</a:t>
            </a:r>
            <a:r>
              <a:rPr lang="zh-CN" altLang="en-US" sz="1800" b="1" spc="-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5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상실한</a:t>
            </a:r>
            <a:r>
              <a:rPr lang="zh-CN" altLang="en-US" sz="1800" b="1" spc="-2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5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잃어버린</a:t>
            </a:r>
            <a:r>
              <a:rPr lang="zh-CN" altLang="en-US" sz="1800" b="1" spc="-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6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꿈과</a:t>
            </a:r>
            <a:r>
              <a:rPr lang="zh-CN" altLang="en-US" sz="1800" b="1" spc="-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endParaRPr lang="en-US" altLang="zh-CN" sz="1800" b="1" spc="-15" dirty="0">
              <a:solidFill>
                <a:srgbClr val="3F3F3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rial Unicode MS"/>
            </a:endParaRPr>
          </a:p>
          <a:p>
            <a:pPr marL="0" algn="ctr">
              <a:lnSpc>
                <a:spcPct val="100000"/>
              </a:lnSpc>
            </a:pPr>
            <a:r>
              <a:rPr lang="zh-CN" altLang="en-US" sz="1800" b="1" spc="-5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젊은</a:t>
            </a:r>
            <a:r>
              <a:rPr lang="zh-CN" altLang="en-US" sz="1800" b="1" spc="-2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6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날의</a:t>
            </a:r>
            <a:r>
              <a:rPr lang="zh-CN" altLang="en-US" sz="1800" b="1" spc="-2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5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사랑했던 </a:t>
            </a:r>
            <a:r>
              <a:rPr lang="zh-CN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아름다운</a:t>
            </a:r>
            <a:r>
              <a:rPr lang="zh-CN" altLang="en-US" sz="1800" b="1" spc="-1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기억을</a:t>
            </a:r>
            <a:r>
              <a:rPr lang="zh-CN" altLang="en-US" sz="1800" b="1" spc="-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endParaRPr lang="en-US" altLang="zh-CN" sz="1800" b="1" spc="-15" dirty="0">
              <a:solidFill>
                <a:srgbClr val="3F3F3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rial Unicode MS"/>
            </a:endParaRPr>
          </a:p>
          <a:p>
            <a:pPr marL="0" algn="ctr">
              <a:lnSpc>
                <a:spcPct val="100000"/>
              </a:lnSpc>
            </a:pPr>
            <a:endParaRPr lang="en-US" altLang="zh-CN" sz="1800" b="1" spc="-15" dirty="0">
              <a:solidFill>
                <a:srgbClr val="3F3F3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rial Unicode MS"/>
            </a:endParaRPr>
          </a:p>
          <a:p>
            <a:pPr marL="0" algn="ctr">
              <a:lnSpc>
                <a:spcPct val="100000"/>
              </a:lnSpc>
            </a:pPr>
            <a:r>
              <a:rPr lang="zh-CN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새롭게</a:t>
            </a:r>
            <a:r>
              <a:rPr lang="zh-CN" altLang="en-US" sz="1800" b="1" spc="-1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환기하며</a:t>
            </a:r>
            <a:r>
              <a:rPr lang="en-US" altLang="zh-CN" b="1" spc="-2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zh-CN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</a:t>
            </a:r>
            <a:r>
              <a:rPr lang="ko-KR" altLang="en-US" sz="1800" b="1" spc="-50" dirty="0" err="1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를</a:t>
            </a:r>
            <a:r>
              <a:rPr lang="ko-KR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zh-CN" altLang="en-US" sz="1800" b="1" spc="-5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살아있게</a:t>
            </a:r>
            <a:r>
              <a:rPr lang="zh-CN" altLang="en-US" sz="1800" b="1" spc="-20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rial Unicode MS"/>
              </a:rPr>
              <a:t> </a:t>
            </a:r>
            <a:r>
              <a:rPr lang="zh-CN" altLang="en-US" sz="1800" b="1" spc="-55" dirty="0">
                <a:solidFill>
                  <a:srgbClr val="3F3F3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560</Words>
  <Application>Microsoft Office PowerPoint</Application>
  <PresentationFormat>화면 슬라이드 쇼(16:9)</PresentationFormat>
  <Paragraphs>78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에스코어 드림 3 Light</vt:lpstr>
      <vt:lpstr>에스코어 드림 6 Bold</vt:lpstr>
      <vt:lpstr>Arial</vt:lpstr>
      <vt:lpstr>에스코어 드림 4 Regular</vt:lpstr>
      <vt:lpstr>에스코어 드림 5 Medium</vt:lpstr>
      <vt:lpstr>Calibri</vt:lpstr>
      <vt:lpstr>210 M고딕OTF 050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벤야민에 의하면 유유자적은 단지 생산만을 위해 달려가는  삶의 리듬에 대항하는 일종의 저항이다 </vt:lpstr>
      <vt:lpstr>PowerPoint 프레젠테이션</vt:lpstr>
      <vt:lpstr>PowerPoint 프레젠테이션</vt:lpstr>
      <vt:lpstr>노찾사 운동가수에서 대중가수 전환</vt:lpstr>
      <vt:lpstr>PowerPoint 프레젠테이션</vt:lpstr>
      <vt:lpstr>김광석 노래의 내러티브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Lighten PDF Converter Master</dc:creator>
  <cp:lastModifiedBy>상호 이</cp:lastModifiedBy>
  <cp:revision>118</cp:revision>
  <dcterms:created xsi:type="dcterms:W3CDTF">2012-06-15T16:23:20Z</dcterms:created>
  <dcterms:modified xsi:type="dcterms:W3CDTF">2026-07-09T12:40:34Z</dcterms:modified>
  <cp:version/>
</cp:coreProperties>
</file>